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0" r:id="rId10"/>
    <p:sldId id="265" r:id="rId11"/>
    <p:sldId id="269" r:id="rId12"/>
    <p:sldId id="289" r:id="rId13"/>
    <p:sldId id="316" r:id="rId14"/>
    <p:sldId id="317" r:id="rId15"/>
    <p:sldId id="318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291" r:id="rId24"/>
    <p:sldId id="292" r:id="rId25"/>
    <p:sldId id="302" r:id="rId26"/>
    <p:sldId id="303" r:id="rId27"/>
    <p:sldId id="304" r:id="rId28"/>
    <p:sldId id="319" r:id="rId29"/>
    <p:sldId id="326" r:id="rId30"/>
    <p:sldId id="321" r:id="rId31"/>
    <p:sldId id="325" r:id="rId32"/>
    <p:sldId id="323" r:id="rId33"/>
    <p:sldId id="327" r:id="rId34"/>
    <p:sldId id="32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063843-C5EE-45E7-8556-8192ED7AC9E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310"/>
            <p14:sldId id="265"/>
            <p14:sldId id="269"/>
            <p14:sldId id="289"/>
            <p14:sldId id="316"/>
            <p14:sldId id="317"/>
            <p14:sldId id="318"/>
            <p14:sldId id="295"/>
            <p14:sldId id="296"/>
            <p14:sldId id="297"/>
            <p14:sldId id="298"/>
            <p14:sldId id="299"/>
            <p14:sldId id="300"/>
            <p14:sldId id="301"/>
            <p14:sldId id="291"/>
            <p14:sldId id="292"/>
            <p14:sldId id="302"/>
            <p14:sldId id="303"/>
            <p14:sldId id="304"/>
            <p14:sldId id="319"/>
            <p14:sldId id="326"/>
            <p14:sldId id="321"/>
            <p14:sldId id="325"/>
            <p14:sldId id="323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F54A1-BCFD-4FE4-BBA1-A77FD12FFAC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D9096-4C87-4CAA-AF3E-5A8E2CE3C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4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8A0C-B1C0-0654-5E84-AD2E7D9A0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0A3AA-9208-ADBA-B018-E37C704CB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E71A6-495B-4578-6518-CEA0AC7B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8E55B-7325-5144-D681-BC8673F7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4A39-7748-4966-F60C-0D0BC665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6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E53E-1245-B1E3-7963-FC14DCB0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B3F8-3D79-DE2B-5E7A-DD025650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3BC5A-4908-2C15-03C1-85EEF70F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012F3-49D8-0491-6619-20DA89F1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607EC-A01C-B784-A37E-B31CCEB2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0904-1ACA-7466-BE58-13E5DF45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9A898-CDC9-5676-D349-CD156381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EA0A1-9ED3-A159-8534-56337DE8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3D1F-AAEB-0A50-DD3B-F99248CE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803A8-A15D-F72A-4782-725640C8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0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EE55-F0B4-5098-35D3-366812F1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617A-6D16-4B50-56A6-C6CAF4BDA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499D5-896A-3870-9A12-09F1B06F3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29509-C481-5D52-A0AD-32FA8B2F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8243-4580-6926-FCDD-7A55E4EB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3AB65-CD3E-1638-39A7-197314E6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3106-9917-2A72-2A07-B26B2BEB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1B4B7-EF5F-05D1-E9F4-12424FDDF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19399-024A-DD4D-D614-BDBB18B92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9F293B-147E-4AFB-255A-31B5B656D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9E6D46-05BB-3FA8-17D6-E7A0637DE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F8A3B-2355-44D2-0BBF-9FC43606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E2556-9201-55F2-5444-C5688DE6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6660E-B535-0041-F1CF-56BBE789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3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0D57-4F20-7EDE-5E62-4DEBDCE0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1920D-F41E-15A4-24D7-ED7AF090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E40D0-157A-B8CF-95B4-0BC946FD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95C27-7264-13AA-FDCD-6C947ED5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9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8043C-E1F7-2A18-9DB7-A36E3C14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9E3FC-4A3C-57C8-BBF9-85ACA9A4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82ED3-9862-118E-63E6-3602C655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2A00-472B-5885-B0E9-F900F6D4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FDA8-892D-2F50-C640-EE8376C5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D378F-2305-44B4-DF5D-58FD6AFC1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BEB08-D721-3CF7-C46D-E5968B47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CB7A9-045F-A537-BCA6-F3C76F8D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8D7A0-FB91-47B3-196A-B536A5F5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5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CE5A-2A03-BEF3-6A4A-C98A8F6B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1ADF8-8A7C-8487-65F8-AA0258B77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ED04C-DA07-CCBB-49B9-74BFEA74C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F45B-CC6B-EEEF-EEDD-F6FB6702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748E1-E7B2-6E65-85C3-61758315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B284C-B7E8-2378-8BA3-76B7018A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1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460E-2394-DF8C-AEDD-BBC5E704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530B8-D327-614E-9850-F184C53CF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BC76-4C13-E948-5EBC-15E8A9B9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B0C8-0C0A-4ADB-1478-49ED13DC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8CC38-138D-1C28-2E56-F5828553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8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767324-3426-566B-B708-0F2DABD0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23DD-91F6-FB48-57F2-ECD1A3C16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77C41-0DEF-1F7D-6197-42155B3F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4C40A-D600-DFFE-0A4C-F40BBE5F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DB06-B466-F55E-14EC-DD94FA75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8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22910-1E25-03B1-5E5B-557EDF81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C6090-8BF7-9266-D5CD-17815D74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214D-ABB9-FCB1-3B86-00FF5D2D9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41E6-DB73-486D-9818-8E277CA6A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6C63C-4622-2A64-B995-A2EB56CAA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3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5C1ED7-2A4C-E48C-CF34-13A78EB08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19" y="518066"/>
            <a:ext cx="7712108" cy="1082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65A3B0-EBC2-851B-58EC-6374A5B41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091" y="613209"/>
            <a:ext cx="9144000" cy="337834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Hotel Reservation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E02F7-EACE-6340-0CF3-36A37C25F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073" y="4684172"/>
            <a:ext cx="5106441" cy="1655762"/>
          </a:xfrm>
        </p:spPr>
        <p:txBody>
          <a:bodyPr>
            <a:normAutofit/>
          </a:bodyPr>
          <a:lstStyle/>
          <a:p>
            <a:r>
              <a:rPr lang="en-US" sz="1600" dirty="0"/>
              <a:t>                                </a:t>
            </a:r>
            <a:r>
              <a:rPr lang="en-US" sz="16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G.Keerthi</a:t>
            </a:r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Harshana:25B11CS269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T.Radhika:25B11CS945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</a:t>
            </a:r>
            <a:r>
              <a:rPr lang="en-US" sz="16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T.Lakshmi</a:t>
            </a:r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Sowjanya:26B21CS070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R.Pavithra:25B11CS804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3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9773-80D8-5041-14B0-1BF4CCBD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30" y="365125"/>
            <a:ext cx="7187317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4E0F-037B-F31F-EB36-B88F882BF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452" y="1944894"/>
            <a:ext cx="9915277" cy="2905402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A hotel reservation management system helps customers book rooms easily and efficiently. </a:t>
            </a:r>
          </a:p>
          <a:p>
            <a:pPr lvl="0"/>
            <a:r>
              <a:rPr lang="en-US" sz="2000" dirty="0"/>
              <a:t>It allows users to check room availability and select suitable rooms. </a:t>
            </a:r>
          </a:p>
          <a:p>
            <a:pPr lvl="0"/>
            <a:r>
              <a:rPr lang="en-US" sz="2000" dirty="0"/>
              <a:t>The system stores customer and reservation details securely. </a:t>
            </a:r>
          </a:p>
          <a:p>
            <a:pPr lvl="0"/>
            <a:r>
              <a:rPr lang="en-US" sz="2000" dirty="0"/>
              <a:t>It reduces manual work and minimizes booking errors. </a:t>
            </a:r>
          </a:p>
          <a:p>
            <a:pPr lvl="0"/>
            <a:r>
              <a:rPr lang="en-US" sz="2000" dirty="0"/>
              <a:t>It provides an organized way to manage bookings, cancellations, and customer information.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4019F-BEF4-7C98-C030-FA47D3BC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293819" cy="10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6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F104A-CE91-D1B7-2605-357CF7FE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4" y="538956"/>
            <a:ext cx="9501809" cy="1118394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      Problem Statement</a:t>
            </a:r>
          </a:p>
        </p:txBody>
      </p:sp>
      <p:pic>
        <p:nvPicPr>
          <p:cNvPr id="9" name="Graphic 8" descr="Bed">
            <a:extLst>
              <a:ext uri="{FF2B5EF4-FFF2-40B4-BE49-F238E27FC236}">
                <a16:creationId xmlns:a16="http://schemas.microsoft.com/office/drawing/2014/main" id="{A981B44E-F4DF-ECF1-8539-EED528CA5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7722-2966-06D7-3871-C54DA54E0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US" sz="2000" dirty="0"/>
              <a:t>Manual hotel bookings are time-consuming and error-prone. </a:t>
            </a:r>
          </a:p>
          <a:p>
            <a:r>
              <a:rPr lang="en-US" sz="2000" dirty="0"/>
              <a:t>Checking room availability manually is difficult. </a:t>
            </a:r>
          </a:p>
          <a:p>
            <a:r>
              <a:rPr lang="en-US" sz="2000" dirty="0"/>
              <a:t>Managing customer and booking details can be inefficient. </a:t>
            </a:r>
          </a:p>
          <a:p>
            <a:r>
              <a:rPr lang="en-US" sz="2000" dirty="0"/>
              <a:t>Booking conflicts may occur due to poor record management. </a:t>
            </a:r>
          </a:p>
          <a:p>
            <a:r>
              <a:rPr lang="en-US" sz="2000" dirty="0"/>
              <a:t>A computerized system is needed to manage reservations efficiently. </a:t>
            </a:r>
          </a:p>
          <a:p>
            <a:r>
              <a:rPr lang="en-US" sz="2000" dirty="0"/>
              <a:t>The Hotel Reservation Management System is developed to overcome these problems by storing and managing hotel-related information in a centralized MySQL database.</a:t>
            </a:r>
          </a:p>
          <a:p>
            <a:r>
              <a:rPr lang="en-US" sz="2000" dirty="0"/>
              <a:t> The system helps manage customer details, hotel information, room details, reservations, payments, and staff information efficiently.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2F9FA-5E5D-EE5C-3139-DFA933589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108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5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4228-9F60-288A-7D46-71279105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392" y="365125"/>
            <a:ext cx="755740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5D46-4516-C023-CB80-72454D7E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r>
              <a:rPr lang="en-US" sz="2000" dirty="0"/>
              <a:t>The main objectives of the Hotel Reservation Management System are:</a:t>
            </a:r>
          </a:p>
          <a:p>
            <a:r>
              <a:rPr lang="en-US" sz="2000" dirty="0"/>
              <a:t>To manage customer information efficiently.</a:t>
            </a:r>
          </a:p>
          <a:p>
            <a:r>
              <a:rPr lang="en-US" sz="2000" dirty="0"/>
              <a:t>To manage hotel and room details.</a:t>
            </a:r>
          </a:p>
          <a:p>
            <a:r>
              <a:rPr lang="en-US" sz="2000" dirty="0"/>
              <a:t>To check room availability quickly.</a:t>
            </a:r>
          </a:p>
          <a:p>
            <a:r>
              <a:rPr lang="en-US" sz="2000" dirty="0"/>
              <a:t>To create, update, and cancel room reservations.</a:t>
            </a:r>
          </a:p>
          <a:p>
            <a:r>
              <a:rPr lang="en-US" sz="2000" dirty="0"/>
              <a:t>To maintain payment information.</a:t>
            </a:r>
          </a:p>
          <a:p>
            <a:r>
              <a:rPr lang="en-US" sz="2000" dirty="0"/>
              <a:t>To reduce manual work and paperwork.</a:t>
            </a:r>
          </a:p>
          <a:p>
            <a:r>
              <a:rPr lang="en-US" sz="2000" dirty="0"/>
              <a:t>To minimize errors and duplicate bookings.</a:t>
            </a:r>
          </a:p>
          <a:p>
            <a:r>
              <a:rPr lang="en-US" sz="2000" dirty="0"/>
              <a:t>To maintain accurate and consistent records.</a:t>
            </a:r>
          </a:p>
          <a:p>
            <a:r>
              <a:rPr lang="en-US" sz="2000" dirty="0"/>
              <a:t>To provide quick access to customer, room, and reservation information.</a:t>
            </a:r>
          </a:p>
          <a:p>
            <a:r>
              <a:rPr lang="en-US" sz="2000" dirty="0"/>
              <a:t>To improve the overall efficiency of hotel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06A58-D23B-0F32-CEE5-AAC3865F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8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F9AE3-FC29-970C-B8A2-2321803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2329733"/>
            <a:ext cx="4809068" cy="3783610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Functional Requirements</a:t>
            </a:r>
          </a:p>
        </p:txBody>
      </p:sp>
      <p:pic>
        <p:nvPicPr>
          <p:cNvPr id="15" name="Graphic 14" descr="Laptop Secure">
            <a:extLst>
              <a:ext uri="{FF2B5EF4-FFF2-40B4-BE49-F238E27FC236}">
                <a16:creationId xmlns:a16="http://schemas.microsoft.com/office/drawing/2014/main" id="{396385A9-C90E-434B-C54D-B8F9C10F5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799" y="1399430"/>
            <a:ext cx="914400" cy="7394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9C5B-AC8E-8EF4-6AE5-0620FECE0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lvl="0"/>
            <a:r>
              <a:rPr lang="en-US" sz="1800"/>
              <a:t>User registration and login. </a:t>
            </a:r>
          </a:p>
          <a:p>
            <a:pPr lvl="0"/>
            <a:r>
              <a:rPr lang="en-US" sz="1800"/>
              <a:t>Search available rooms by date and type. </a:t>
            </a:r>
          </a:p>
          <a:p>
            <a:pPr lvl="0"/>
            <a:r>
              <a:rPr lang="en-US" sz="1800"/>
              <a:t>View room details, price, and availability. </a:t>
            </a:r>
          </a:p>
          <a:p>
            <a:pPr lvl="0"/>
            <a:r>
              <a:rPr lang="en-US" sz="1800"/>
              <a:t>Make and confirm room reservations. </a:t>
            </a:r>
          </a:p>
          <a:p>
            <a:pPr lvl="0"/>
            <a:r>
              <a:rPr lang="en-US" sz="1800"/>
              <a:t>Modify or cancel reservations. </a:t>
            </a:r>
          </a:p>
          <a:p>
            <a:pPr lvl="0"/>
            <a:r>
              <a:rPr lang="en-US" sz="1800"/>
              <a:t>Store and manage customer information. </a:t>
            </a:r>
          </a:p>
          <a:p>
            <a:pPr lvl="0"/>
            <a:r>
              <a:rPr lang="en-US" sz="1800"/>
              <a:t>Calculate booking cost and generate bills. </a:t>
            </a:r>
          </a:p>
          <a:p>
            <a:pPr lvl="0"/>
            <a:r>
              <a:rPr lang="en-US" sz="1800"/>
              <a:t>Process payment details securely. </a:t>
            </a:r>
          </a:p>
          <a:p>
            <a:pPr lvl="0"/>
            <a:r>
              <a:rPr lang="en-US" sz="1800"/>
              <a:t>Send booking confirmation and notifications. </a:t>
            </a:r>
          </a:p>
          <a:p>
            <a:pPr lvl="0"/>
            <a:r>
              <a:rPr lang="en-US" sz="1800"/>
              <a:t>Admin can manage rooms, bookings, and customers. 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2EE7E-A129-22DE-D3E8-98465516F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8960-DB5D-FA60-9557-0CA2CADA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91" y="2767055"/>
            <a:ext cx="4809068" cy="3270088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Non-Functional Requirements</a:t>
            </a:r>
          </a:p>
        </p:txBody>
      </p:sp>
      <p:pic>
        <p:nvPicPr>
          <p:cNvPr id="23" name="Graphic 22" descr="Server">
            <a:extLst>
              <a:ext uri="{FF2B5EF4-FFF2-40B4-BE49-F238E27FC236}">
                <a16:creationId xmlns:a16="http://schemas.microsoft.com/office/drawing/2014/main" id="{E5743D70-DAC5-E195-B837-13C4150FA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3578" y="1693742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236E1-CA34-A418-64F3-D1AD79C6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lvl="0"/>
            <a:r>
              <a:rPr lang="en-US" sz="1800"/>
              <a:t>System should be easy to use. </a:t>
            </a:r>
          </a:p>
          <a:p>
            <a:pPr lvl="0"/>
            <a:r>
              <a:rPr lang="en-US" sz="1800"/>
              <a:t>System should provide fast response time. </a:t>
            </a:r>
          </a:p>
          <a:p>
            <a:pPr lvl="0"/>
            <a:r>
              <a:rPr lang="en-US" sz="1800"/>
              <a:t>System should ensure data security. </a:t>
            </a:r>
          </a:p>
          <a:p>
            <a:pPr lvl="0"/>
            <a:r>
              <a:rPr lang="en-US" sz="1800"/>
              <a:t>System should be reliable and available. </a:t>
            </a:r>
          </a:p>
          <a:p>
            <a:pPr lvl="0"/>
            <a:r>
              <a:rPr lang="en-US" sz="1800"/>
              <a:t>System should support multiple users. </a:t>
            </a:r>
          </a:p>
          <a:p>
            <a:pPr lvl="0"/>
            <a:r>
              <a:rPr lang="en-US" sz="1800"/>
              <a:t>System should maintain data accuracy. </a:t>
            </a:r>
          </a:p>
          <a:p>
            <a:pPr lvl="0"/>
            <a:r>
              <a:rPr lang="en-US" sz="1800"/>
              <a:t>System should be easy to maintain. </a:t>
            </a:r>
          </a:p>
          <a:p>
            <a:pPr lvl="0"/>
            <a:r>
              <a:rPr lang="en-US" sz="1800"/>
              <a:t>System should be scalable for future needs. </a:t>
            </a:r>
          </a:p>
          <a:p>
            <a:pPr lvl="0"/>
            <a:r>
              <a:rPr lang="en-US" sz="1800"/>
              <a:t>System should provide secure user authentication. </a:t>
            </a:r>
          </a:p>
          <a:p>
            <a:pPr lvl="0"/>
            <a:r>
              <a:rPr lang="en-US" sz="1800"/>
              <a:t>System should have minimal system downtime. 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0120E-E050-CDCB-295F-1D4B14382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3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CA8C-9AE2-5280-E3B5-B02848F9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496" y="365125"/>
            <a:ext cx="8332304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End Users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ED41-B55D-19E3-4235-C1DF0D88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Customer/Guest </a:t>
            </a:r>
            <a:r>
              <a:rPr lang="en-US" sz="2000" dirty="0"/>
              <a:t>– Searches for rooms, checks availability, makes reservations, and       cancels bookings.</a:t>
            </a:r>
          </a:p>
          <a:p>
            <a:endParaRPr lang="en-US" sz="2000" dirty="0"/>
          </a:p>
          <a:p>
            <a:r>
              <a:rPr lang="en-US" sz="2000" b="1" dirty="0"/>
              <a:t>Receptionist </a:t>
            </a:r>
            <a:r>
              <a:rPr lang="en-US" sz="2000" dirty="0"/>
              <a:t>– Manages customer check-in, check-out, and reservations.</a:t>
            </a:r>
          </a:p>
          <a:p>
            <a:endParaRPr lang="en-US" sz="2000" dirty="0"/>
          </a:p>
          <a:p>
            <a:r>
              <a:rPr lang="en-US" sz="2000" b="1" dirty="0"/>
              <a:t>Hotel Manager </a:t>
            </a:r>
            <a:r>
              <a:rPr lang="en-US" sz="2000" dirty="0"/>
              <a:t>– Monitors rooms, bookings, customers, and hotel operations.</a:t>
            </a:r>
          </a:p>
          <a:p>
            <a:endParaRPr lang="en-US" sz="2000" dirty="0"/>
          </a:p>
          <a:p>
            <a:r>
              <a:rPr lang="en-US" sz="2000" b="1" dirty="0"/>
              <a:t>Administrator </a:t>
            </a:r>
            <a:r>
              <a:rPr lang="en-US" sz="2000" dirty="0"/>
              <a:t>– Manages users, rooms, hotel details, and system records.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65AB3-B0F6-22A9-B848-864237F3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2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EA99-D855-0BCC-13B6-F7682554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252" y="365125"/>
            <a:ext cx="8292548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Attributes And Entities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DB3C678-C4C4-1439-446B-BD68137A7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872789"/>
              </p:ext>
            </p:extLst>
          </p:nvPr>
        </p:nvGraphicFramePr>
        <p:xfrm>
          <a:off x="1550504" y="1820849"/>
          <a:ext cx="2385391" cy="2282025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3504913785"/>
                    </a:ext>
                  </a:extLst>
                </a:gridCol>
              </a:tblGrid>
              <a:tr h="2282025">
                <a:tc>
                  <a:txBody>
                    <a:bodyPr/>
                    <a:lstStyle/>
                    <a:p>
                      <a:r>
                        <a:rPr lang="en-US" b="1" dirty="0"/>
                        <a:t>1.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Name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Email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Address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5719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3D85FDC-5374-C72C-4D19-DBADB3CEA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00402"/>
              </p:ext>
            </p:extLst>
          </p:nvPr>
        </p:nvGraphicFramePr>
        <p:xfrm>
          <a:off x="4349362" y="1816872"/>
          <a:ext cx="2377440" cy="22860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1740485275"/>
                    </a:ext>
                  </a:extLst>
                </a:gridCol>
              </a:tblGrid>
              <a:tr h="2286001">
                <a:tc>
                  <a:txBody>
                    <a:bodyPr/>
                    <a:lstStyle/>
                    <a:p>
                      <a:r>
                        <a:rPr lang="en-US" b="1" dirty="0"/>
                        <a:t>2. Room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Room_Number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Room_Type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Price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Status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27892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7C39F3-A2EF-8F17-00D6-72AA794B3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610758"/>
              </p:ext>
            </p:extLst>
          </p:nvPr>
        </p:nvGraphicFramePr>
        <p:xfrm>
          <a:off x="7235687" y="1816873"/>
          <a:ext cx="2385391" cy="2286000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4262715157"/>
                    </a:ext>
                  </a:extLst>
                </a:gridCol>
              </a:tblGrid>
              <a:tr h="1899330">
                <a:tc>
                  <a:txBody>
                    <a:bodyPr/>
                    <a:lstStyle/>
                    <a:p>
                      <a:r>
                        <a:rPr lang="en-US" b="1" dirty="0"/>
                        <a:t>3. Reservation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Reservation_ID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Check_In_Date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Check_Out_Date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Booking_Status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16625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2F9B835-6F12-DF9A-D060-115B8475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90463"/>
              </p:ext>
            </p:extLst>
          </p:nvPr>
        </p:nvGraphicFramePr>
        <p:xfrm>
          <a:off x="1550504" y="4325509"/>
          <a:ext cx="2385391" cy="2194560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2073972415"/>
                    </a:ext>
                  </a:extLst>
                </a:gridCol>
              </a:tblGrid>
              <a:tr h="2194560">
                <a:tc>
                  <a:txBody>
                    <a:bodyPr/>
                    <a:lstStyle/>
                    <a:p>
                      <a:r>
                        <a:rPr lang="en-US" b="1" dirty="0"/>
                        <a:t>4. Staff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Staff_ID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Staff_Name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Role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Salary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09626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5D64A93-4E1E-CA6E-BCD3-6CFBE31E2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77538"/>
              </p:ext>
            </p:extLst>
          </p:nvPr>
        </p:nvGraphicFramePr>
        <p:xfrm>
          <a:off x="4317556" y="4325507"/>
          <a:ext cx="2441052" cy="2286001"/>
        </p:xfrm>
        <a:graphic>
          <a:graphicData uri="http://schemas.openxmlformats.org/drawingml/2006/table">
            <a:tbl>
              <a:tblPr/>
              <a:tblGrid>
                <a:gridCol w="2441052">
                  <a:extLst>
                    <a:ext uri="{9D8B030D-6E8A-4147-A177-3AD203B41FA5}">
                      <a16:colId xmlns:a16="http://schemas.microsoft.com/office/drawing/2014/main" val="1073544924"/>
                    </a:ext>
                  </a:extLst>
                </a:gridCol>
              </a:tblGrid>
              <a:tr h="2286001">
                <a:tc>
                  <a:txBody>
                    <a:bodyPr/>
                    <a:lstStyle/>
                    <a:p>
                      <a:r>
                        <a:rPr lang="en-US" b="1" dirty="0"/>
                        <a:t>5. Hotel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Hotel_ID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Hotel_Name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Location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Email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61864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377739-17FA-6EEA-2D18-BAD31F55D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66990"/>
              </p:ext>
            </p:extLst>
          </p:nvPr>
        </p:nvGraphicFramePr>
        <p:xfrm>
          <a:off x="7235688" y="4325508"/>
          <a:ext cx="2385390" cy="2286000"/>
        </p:xfrm>
        <a:graphic>
          <a:graphicData uri="http://schemas.openxmlformats.org/drawingml/2006/table">
            <a:tbl>
              <a:tblPr/>
              <a:tblGrid>
                <a:gridCol w="2385390">
                  <a:extLst>
                    <a:ext uri="{9D8B030D-6E8A-4147-A177-3AD203B41FA5}">
                      <a16:colId xmlns:a16="http://schemas.microsoft.com/office/drawing/2014/main" val="3892606720"/>
                    </a:ext>
                  </a:extLst>
                </a:gridCol>
              </a:tblGrid>
              <a:tr h="2167367">
                <a:tc>
                  <a:txBody>
                    <a:bodyPr/>
                    <a:lstStyle/>
                    <a:p>
                      <a:r>
                        <a:rPr lang="en-US" b="1" dirty="0"/>
                        <a:t>6. Payment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Reservation_ID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Amount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Payment_Method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Payment_Status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253568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B1ADFE5-DAB2-B8B6-E077-56C0A742B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70"/>
            <a:ext cx="2293819" cy="97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5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2E4C8-529E-92BA-8321-4388957C9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4" y="0"/>
            <a:ext cx="2203736" cy="934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35AD8-9780-DE09-A851-B791CEBC75BF}"/>
              </a:ext>
            </a:extLst>
          </p:cNvPr>
          <p:cNvSpPr txBox="1"/>
          <p:nvPr/>
        </p:nvSpPr>
        <p:spPr>
          <a:xfrm>
            <a:off x="1386348" y="1858297"/>
            <a:ext cx="951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Hotel Reservation Management System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6988E-8230-BE17-F6D5-51907D64AB27}"/>
              </a:ext>
            </a:extLst>
          </p:cNvPr>
          <p:cNvSpPr txBox="1"/>
          <p:nvPr/>
        </p:nvSpPr>
        <p:spPr>
          <a:xfrm>
            <a:off x="7521676" y="4129549"/>
            <a:ext cx="3677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G.Keerthi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Harshana:25B11CS269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T.Radhika:25B11CS945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T.Lakshmi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Sowjanya:26B21CS070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R.Pavithra:25B11CS804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53ECA-80BB-0298-6A59-AFC9894FEF2E}"/>
              </a:ext>
            </a:extLst>
          </p:cNvPr>
          <p:cNvSpPr txBox="1"/>
          <p:nvPr/>
        </p:nvSpPr>
        <p:spPr>
          <a:xfrm>
            <a:off x="4768646" y="2844225"/>
            <a:ext cx="1977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REVIEW 2</a:t>
            </a:r>
          </a:p>
        </p:txBody>
      </p:sp>
    </p:spTree>
    <p:extLst>
      <p:ext uri="{BB962C8B-B14F-4D97-AF65-F5344CB8AC3E}">
        <p14:creationId xmlns:p14="http://schemas.microsoft.com/office/powerpoint/2010/main" val="129332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EAD8A3-29E0-C242-6391-76F006A28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0"/>
            <a:ext cx="2293819" cy="92972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3D255B-BB3A-9E75-18F1-6BC745E87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929721"/>
            <a:ext cx="10048568" cy="57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EBB84-F7D6-FC82-2B18-576752014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495879-391B-9468-DA4D-A3DF56D2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120877"/>
            <a:ext cx="10577052" cy="5056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Your ER diagram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Entities: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3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F9A1-16BF-97FF-6A3E-789CDF88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456" y="365125"/>
            <a:ext cx="8730343" cy="8540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SQL Creation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2D88-8555-3942-183A-66589E443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10863943" cy="545374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1.Hotel Table                                                  2.Customer Table</a:t>
            </a:r>
          </a:p>
          <a:p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4D60C-2E62-6042-5BEF-B91BCA155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41F180-3D65-8FE9-22ED-84535DBDBA52}"/>
              </a:ext>
            </a:extLst>
          </p:cNvPr>
          <p:cNvSpPr txBox="1"/>
          <p:nvPr/>
        </p:nvSpPr>
        <p:spPr>
          <a:xfrm>
            <a:off x="962108" y="1794682"/>
            <a:ext cx="44209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CREATE TABLE HOTEL (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Hotel_ID</a:t>
            </a:r>
            <a:r>
              <a:rPr lang="en-US" sz="1800" dirty="0"/>
              <a:t> NUMBER PRIMARY KEY,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Hotel_Name</a:t>
            </a:r>
            <a:r>
              <a:rPr lang="en-US" sz="1800" dirty="0"/>
              <a:t> VARCHAR2(50) NOT NULL,</a:t>
            </a:r>
          </a:p>
          <a:p>
            <a:r>
              <a:rPr lang="en-US" sz="1800" dirty="0"/>
              <a:t>    Location VARCHAR2(50) NOT NULL,</a:t>
            </a:r>
          </a:p>
          <a:p>
            <a:r>
              <a:rPr lang="en-US" sz="1800" dirty="0"/>
              <a:t>    Phone VARCHAR2(15) UNIQUE,</a:t>
            </a:r>
          </a:p>
          <a:p>
            <a:r>
              <a:rPr lang="en-US" sz="1800" dirty="0"/>
              <a:t>    Email VARCHAR2(60) UNIQUE</a:t>
            </a:r>
          </a:p>
          <a:p>
            <a:r>
              <a:rPr lang="en-US" sz="1800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43281-8CF4-0EDC-0A57-382EEDC4D017}"/>
              </a:ext>
            </a:extLst>
          </p:cNvPr>
          <p:cNvSpPr txBox="1"/>
          <p:nvPr/>
        </p:nvSpPr>
        <p:spPr>
          <a:xfrm>
            <a:off x="6345140" y="1701580"/>
            <a:ext cx="44765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CREATE TABLE CUSTOMER (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Customer_ID</a:t>
            </a:r>
            <a:r>
              <a:rPr lang="en-US" sz="1800" dirty="0"/>
              <a:t> NUMBER PRIMARY KEY,</a:t>
            </a:r>
          </a:p>
          <a:p>
            <a:r>
              <a:rPr lang="en-US" sz="1800" dirty="0"/>
              <a:t>    Name VARCHAR2(50) NOT NULL,</a:t>
            </a:r>
          </a:p>
          <a:p>
            <a:r>
              <a:rPr lang="en-US" sz="1800" dirty="0"/>
              <a:t>    Phone VARCHAR2(15) UNIQUE,</a:t>
            </a:r>
          </a:p>
          <a:p>
            <a:r>
              <a:rPr lang="en-US" sz="1800" dirty="0"/>
              <a:t>    Email VARCHAR2(60) UNIQUE,</a:t>
            </a:r>
          </a:p>
          <a:p>
            <a:r>
              <a:rPr lang="en-US" sz="1800" dirty="0"/>
              <a:t>    Address VARCHAR2(100)</a:t>
            </a:r>
          </a:p>
          <a:p>
            <a:r>
              <a:rPr lang="en-US" sz="1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6844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7780-AF46-3057-8E5A-A259AC86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9" y="220702"/>
            <a:ext cx="11560542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07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AC07F-184E-0FF4-756A-A6E4B921F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258805"/>
            <a:ext cx="11126164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5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C79E6-DFB1-A900-BC21-474C8D9F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315960"/>
            <a:ext cx="11446232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1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95C75-FC7F-02E8-1249-693C43C9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91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0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26A5-7C0F-8D61-485A-46AD56CD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644" y="365126"/>
            <a:ext cx="8030155" cy="89913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Sample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41289-E38D-34C1-CA82-42CA0FED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258"/>
            <a:ext cx="10515600" cy="49127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Hotel Table                                                        Room Table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/>
              <a:t>SQL&gt;SELECT * FROM HOTEL;                                                     SQL&gt;SELECT * FROM ROOM;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E6941-2674-06F3-9B7A-AB9132353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4A512-7B66-508E-A003-16484E070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8387"/>
            <a:ext cx="4934447" cy="4253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FEB656-6FB2-442F-D36F-F3D7E3057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355" y="2425148"/>
            <a:ext cx="5483748" cy="41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54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472C-2AD9-43FC-F092-DAE2EF1E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C19-7CC4-4012-25A4-DDEE5283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5182"/>
            <a:ext cx="10515600" cy="5241781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Staff Table                                                   Reservation Table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000" dirty="0"/>
              <a:t>SQL&gt;SELECT * FROM STAFF                                                SQL&gt;SELECT * FROM RESERVATION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2EA90-4D32-5D95-C05E-7297A47C6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157CC-87DB-A466-9F87-BCF7B800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093768"/>
            <a:ext cx="4990106" cy="4219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6001A-6110-AA31-69FD-348D9915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93767"/>
            <a:ext cx="5775297" cy="42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23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8E26-3431-EA0F-7AAC-2E90417F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4318-AE8D-453D-A20D-2FD76FEC6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846"/>
            <a:ext cx="10515600" cy="488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  Customer Table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000" dirty="0"/>
              <a:t>SQL&gt;SELECT * FROM CUSTOMER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FF47C-3DDE-F75F-CED2-2BA4C735F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CB177-9393-AA24-8CD6-DC5F67F9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09" y="2564750"/>
            <a:ext cx="6907762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88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DB07-30FE-D95D-0461-DC1A22A3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030" y="365125"/>
            <a:ext cx="8419769" cy="96274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Basic Queries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1DAD-E957-1B58-D132-17A2A3BA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868"/>
            <a:ext cx="10515600" cy="4849095"/>
          </a:xfrm>
        </p:spPr>
        <p:txBody>
          <a:bodyPr/>
          <a:lstStyle/>
          <a:p>
            <a:r>
              <a:rPr lang="en-US" b="1" dirty="0"/>
              <a:t>Q1. Display all customer details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400" dirty="0"/>
              <a:t>SELECT * FROM CUSTOMER;</a:t>
            </a:r>
          </a:p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34387-4EE3-934A-9EB1-3A13A4733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9A70A4-D3B1-07ED-EC85-CF8EDF5A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819" y="2767013"/>
            <a:ext cx="66389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C8EB-E609-56B8-CF3C-EDD13DAB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AC788-C642-065F-DC0E-26F5425D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75"/>
            <a:ext cx="10515600" cy="5111488"/>
          </a:xfrm>
        </p:spPr>
        <p:txBody>
          <a:bodyPr/>
          <a:lstStyle/>
          <a:p>
            <a:r>
              <a:rPr lang="en-US" b="1" dirty="0"/>
              <a:t>Q2. Display all available rooms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SELECT </a:t>
            </a:r>
            <a:r>
              <a:rPr lang="en-US" sz="2400" dirty="0" err="1"/>
              <a:t>Room_ID</a:t>
            </a:r>
            <a:r>
              <a:rPr lang="en-US" sz="2400" dirty="0"/>
              <a:t>, </a:t>
            </a:r>
            <a:r>
              <a:rPr lang="en-US" sz="2400" dirty="0" err="1"/>
              <a:t>Room_Number</a:t>
            </a:r>
            <a:r>
              <a:rPr lang="en-US" sz="2400" dirty="0"/>
              <a:t>,                     Output: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err="1"/>
              <a:t>Room_Type</a:t>
            </a:r>
            <a:r>
              <a:rPr lang="en-US" sz="2400" dirty="0"/>
              <a:t>, Price</a:t>
            </a:r>
          </a:p>
          <a:p>
            <a:pPr marL="0" indent="0">
              <a:buNone/>
            </a:pPr>
            <a:r>
              <a:rPr lang="en-US" sz="2400" dirty="0"/>
              <a:t>       FROM ROOM</a:t>
            </a:r>
          </a:p>
          <a:p>
            <a:pPr marL="0" indent="0">
              <a:buNone/>
            </a:pPr>
            <a:r>
              <a:rPr lang="en-US" sz="2400" dirty="0"/>
              <a:t>      WHERE Status = 'Available';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FA439-DAAF-DB2F-BB37-7EAF8E831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E126BD-4BD4-01E3-54E4-AFA926BCD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146853"/>
            <a:ext cx="5600700" cy="36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95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8369-5754-C2EC-DABB-8E20F128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4894E-9346-F796-7C86-13AB12310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5380"/>
            <a:ext cx="10515600" cy="5041583"/>
          </a:xfrm>
        </p:spPr>
        <p:txBody>
          <a:bodyPr/>
          <a:lstStyle/>
          <a:p>
            <a:r>
              <a:rPr lang="en-US" b="1" dirty="0"/>
              <a:t>Q3. Display customer names and reservation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D8952-17AD-6273-35F7-2B07971C6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E1B021-A97A-8C40-49D7-1267356C80AE}"/>
              </a:ext>
            </a:extLst>
          </p:cNvPr>
          <p:cNvSpPr txBox="1"/>
          <p:nvPr/>
        </p:nvSpPr>
        <p:spPr>
          <a:xfrm>
            <a:off x="1036320" y="1690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c.Name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r.Reservation_ID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r.Booking_Status</a:t>
            </a:r>
            <a:endParaRPr lang="en-US" dirty="0"/>
          </a:p>
          <a:p>
            <a:r>
              <a:rPr lang="en-US" dirty="0"/>
              <a:t>FROM CUSTOMER c</a:t>
            </a:r>
          </a:p>
          <a:p>
            <a:r>
              <a:rPr lang="en-US" dirty="0"/>
              <a:t>JOIN RESERVATION r</a:t>
            </a:r>
          </a:p>
          <a:p>
            <a:r>
              <a:rPr lang="en-US" dirty="0"/>
              <a:t>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r.Customer_ID</a:t>
            </a:r>
            <a:r>
              <a:rPr lang="en-US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B0C0E-20E9-FA84-20A0-3D294FB2B42D}"/>
              </a:ext>
            </a:extLst>
          </p:cNvPr>
          <p:cNvSpPr txBox="1"/>
          <p:nvPr/>
        </p:nvSpPr>
        <p:spPr>
          <a:xfrm>
            <a:off x="7200900" y="16906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763F7A-D70F-DF4C-713A-579F7DADD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622" y="2529344"/>
            <a:ext cx="55530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0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708B-4495-130B-BF1F-0CA1F21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  <a:endParaRPr lang="en-IN" sz="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9D5A-EAB4-6F4E-C440-CBFE3172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59179"/>
            <a:ext cx="11539044" cy="5117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Q4. Display reservation details with customer and room information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r.Reservation_ID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c.Name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rm.Room_Number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r.Check_In_Date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r.Check_Out_Date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r.Booking_Status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RESERVATION r</a:t>
            </a:r>
          </a:p>
          <a:p>
            <a:pPr marL="0" indent="0">
              <a:buNone/>
            </a:pPr>
            <a:r>
              <a:rPr lang="en-US" sz="2000" dirty="0"/>
              <a:t>JOIN CUSTOMER c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r.Customer_ID</a:t>
            </a:r>
            <a:r>
              <a:rPr lang="en-US" sz="2000" dirty="0"/>
              <a:t> = </a:t>
            </a:r>
            <a:r>
              <a:rPr lang="en-US" sz="2000" dirty="0" err="1"/>
              <a:t>c.Customer_ID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JOIN ROOM rm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r.Room_ID</a:t>
            </a:r>
            <a:r>
              <a:rPr lang="en-US" sz="2000" dirty="0"/>
              <a:t> = </a:t>
            </a:r>
            <a:r>
              <a:rPr lang="en-US" sz="2000" dirty="0" err="1"/>
              <a:t>rm.Room_ID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601CE-D009-E33F-7081-4D665F027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A075F-64C5-6D1C-50FB-14E5FA4C4B18}"/>
              </a:ext>
            </a:extLst>
          </p:cNvPr>
          <p:cNvSpPr txBox="1"/>
          <p:nvPr/>
        </p:nvSpPr>
        <p:spPr>
          <a:xfrm>
            <a:off x="6187440" y="1690688"/>
            <a:ext cx="3322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717A69-FD42-AA2B-7790-CFBB5D1D7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0" y="2307282"/>
            <a:ext cx="6598920" cy="39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58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6F07-3A2E-2924-AB92-760F4E0B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  <a:endParaRPr lang="en-IN" sz="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CCFC-1198-37B6-EED5-2B83D3D8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31" y="940608"/>
            <a:ext cx="11782097" cy="5236356"/>
          </a:xfrm>
        </p:spPr>
        <p:txBody>
          <a:bodyPr>
            <a:normAutofit/>
          </a:bodyPr>
          <a:lstStyle/>
          <a:p>
            <a:r>
              <a:rPr lang="en-US" sz="2400" b="1" dirty="0"/>
              <a:t>Q5. Find the total paid amount</a:t>
            </a:r>
          </a:p>
          <a:p>
            <a:pPr marL="0" indent="0">
              <a:buNone/>
            </a:pPr>
            <a:r>
              <a:rPr lang="en-US" sz="2400" b="1" dirty="0"/>
              <a:t>   </a:t>
            </a:r>
            <a:r>
              <a:rPr lang="en-US" sz="2000" dirty="0"/>
              <a:t>SELECT SUM(Amount) AS </a:t>
            </a:r>
            <a:r>
              <a:rPr lang="en-US" sz="2000" dirty="0" err="1"/>
              <a:t>Total_Paid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FROM PAYMENT</a:t>
            </a:r>
          </a:p>
          <a:p>
            <a:pPr marL="0" indent="0">
              <a:buNone/>
            </a:pPr>
            <a:r>
              <a:rPr lang="en-US" sz="2000" dirty="0"/>
              <a:t>   WHERE </a:t>
            </a:r>
            <a:r>
              <a:rPr lang="en-US" sz="2000" dirty="0" err="1"/>
              <a:t>Payment_Status</a:t>
            </a:r>
            <a:r>
              <a:rPr lang="en-US" sz="2000" dirty="0"/>
              <a:t> = 'Paid';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64384-B148-25F5-C96B-122EF07A4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3D2EA5-E53C-6C91-9307-A17DB3DA7CCF}"/>
              </a:ext>
            </a:extLst>
          </p:cNvPr>
          <p:cNvSpPr txBox="1"/>
          <p:nvPr/>
        </p:nvSpPr>
        <p:spPr>
          <a:xfrm>
            <a:off x="533400" y="2722079"/>
            <a:ext cx="6164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6759ED-F14A-5131-702B-95BBA187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8" y="3284220"/>
            <a:ext cx="1638300" cy="12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75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A913-B475-D14F-49DC-06256C96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5C7F3-A686-B123-F2EC-E30F9F4F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072063"/>
          </a:xfrm>
        </p:spPr>
        <p:txBody>
          <a:bodyPr>
            <a:normAutofit/>
          </a:bodyPr>
          <a:lstStyle/>
          <a:p>
            <a:r>
              <a:rPr lang="en-US" sz="2400" b="1" dirty="0"/>
              <a:t>Q6. Display hotel names and staff working in them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h.Hotel_Name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s.Staff_Name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s.Role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HOTEL h</a:t>
            </a:r>
          </a:p>
          <a:p>
            <a:pPr marL="0" indent="0">
              <a:buNone/>
            </a:pPr>
            <a:r>
              <a:rPr lang="en-US" sz="2000" dirty="0"/>
              <a:t>JOIN STAFF s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h.Hotel_ID</a:t>
            </a:r>
            <a:r>
              <a:rPr lang="en-US" sz="2000" dirty="0"/>
              <a:t> = </a:t>
            </a:r>
            <a:r>
              <a:rPr lang="en-US" sz="2000" dirty="0" err="1"/>
              <a:t>s.Hotel_ID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9A842-6317-B74F-58DA-8BBEE0DCC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8454D-11C2-8ACC-6DC5-81B0713B9608}"/>
              </a:ext>
            </a:extLst>
          </p:cNvPr>
          <p:cNvSpPr txBox="1"/>
          <p:nvPr/>
        </p:nvSpPr>
        <p:spPr>
          <a:xfrm>
            <a:off x="6324600" y="1482704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F7FC1-5805-AEFB-D6C5-5840BA78D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40" y="2044927"/>
            <a:ext cx="699515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4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9A82-653A-E130-6E47-671164F5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C6BD9-A7F6-8EB2-E959-4A3781F08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140643"/>
          </a:xfrm>
        </p:spPr>
        <p:txBody>
          <a:bodyPr>
            <a:normAutofit/>
          </a:bodyPr>
          <a:lstStyle/>
          <a:p>
            <a:r>
              <a:rPr lang="en-US" sz="2400" b="1" dirty="0"/>
              <a:t>Q7. Count rooms by room type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Room_Type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COUNT(*) AS </a:t>
            </a:r>
            <a:r>
              <a:rPr lang="en-US" sz="2000" dirty="0" err="1"/>
              <a:t>Total_Rooms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ROOM</a:t>
            </a:r>
          </a:p>
          <a:p>
            <a:pPr marL="0" indent="0">
              <a:buNone/>
            </a:pPr>
            <a:r>
              <a:rPr lang="en-US" sz="2000" dirty="0"/>
              <a:t>GROUP BY </a:t>
            </a:r>
            <a:r>
              <a:rPr lang="en-US" sz="2000" dirty="0" err="1"/>
              <a:t>Room_Type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89FF0-A0F8-2E45-85EB-5EA61846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952713-6571-4374-19A9-602B29F01CDC}"/>
              </a:ext>
            </a:extLst>
          </p:cNvPr>
          <p:cNvSpPr txBox="1"/>
          <p:nvPr/>
        </p:nvSpPr>
        <p:spPr>
          <a:xfrm>
            <a:off x="5608320" y="13247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CC7D7C-9C1B-A1F1-1A04-78D7B2DD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35" y="2217420"/>
            <a:ext cx="3295650" cy="18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1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F831-E72A-CD70-3C3B-C03BEE9B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380" y="365125"/>
            <a:ext cx="7932420" cy="991235"/>
          </a:xfrm>
        </p:spPr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Normalisation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5E2F0-DAC8-0C33-6054-E5B72921B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380"/>
            <a:ext cx="10515600" cy="466058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1NF – First Normal Form</a:t>
            </a:r>
          </a:p>
          <a:p>
            <a:pPr marL="0" indent="0">
              <a:buNone/>
            </a:pPr>
            <a:r>
              <a:rPr lang="en-US" dirty="0"/>
              <a:t>    Contains atomic (single) values</a:t>
            </a:r>
          </a:p>
          <a:p>
            <a:pPr marL="0" indent="0">
              <a:buNone/>
            </a:pPr>
            <a:r>
              <a:rPr lang="en-US" dirty="0"/>
              <a:t>    Avoids repeating groups</a:t>
            </a:r>
          </a:p>
          <a:p>
            <a:pPr marL="0" indent="0">
              <a:buNone/>
            </a:pPr>
            <a:r>
              <a:rPr lang="en-US" dirty="0"/>
              <a:t>    Each record has a unique primary key</a:t>
            </a:r>
          </a:p>
          <a:p>
            <a:r>
              <a:rPr lang="en-US" b="1" dirty="0"/>
              <a:t>2NF – Second Normal Form</a:t>
            </a:r>
          </a:p>
          <a:p>
            <a:pPr marL="0" indent="0">
              <a:buNone/>
            </a:pPr>
            <a:r>
              <a:rPr lang="en-US" dirty="0"/>
              <a:t>    Must already satisfy 1NF</a:t>
            </a:r>
          </a:p>
          <a:p>
            <a:pPr marL="0" indent="0">
              <a:buNone/>
            </a:pPr>
            <a:r>
              <a:rPr lang="en-US" dirty="0"/>
              <a:t>    Eliminates partial dependency</a:t>
            </a:r>
          </a:p>
          <a:p>
            <a:pPr marL="0" indent="0">
              <a:buNone/>
            </a:pPr>
            <a:r>
              <a:rPr lang="en-US" dirty="0"/>
              <a:t>    Every attribute depends on the entire primary key</a:t>
            </a:r>
          </a:p>
          <a:p>
            <a:r>
              <a:rPr lang="en-US" b="1" dirty="0"/>
              <a:t>3NF – Third Normal Form</a:t>
            </a:r>
          </a:p>
          <a:p>
            <a:pPr marL="0" indent="0">
              <a:buNone/>
            </a:pPr>
            <a:r>
              <a:rPr lang="en-US" dirty="0"/>
              <a:t>    Must already satisfy 2NF</a:t>
            </a:r>
          </a:p>
          <a:p>
            <a:pPr marL="0" indent="0">
              <a:buNone/>
            </a:pPr>
            <a:r>
              <a:rPr lang="en-US" dirty="0"/>
              <a:t>    Eliminates transitive dependency</a:t>
            </a:r>
          </a:p>
          <a:p>
            <a:pPr marL="0" indent="0">
              <a:buNone/>
            </a:pPr>
            <a:r>
              <a:rPr lang="en-US" dirty="0"/>
              <a:t>    Non-key attributes should depend only on the primary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A5684-3D9E-D1D1-E3E6-BCFBA30D8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79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2B91-C48C-706F-F052-5B67BF24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BFB4-F252-B928-2051-804FE71FF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6" y="1547892"/>
            <a:ext cx="11051650" cy="5326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table is in 1NF because all attributes contain atomic values. However, customer and room details are repeated for different reservations, which causes data redundancy.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8658C-77AD-C16F-EB6A-87AC43677F83}"/>
              </a:ext>
            </a:extLst>
          </p:cNvPr>
          <p:cNvSpPr txBox="1"/>
          <p:nvPr/>
        </p:nvSpPr>
        <p:spPr>
          <a:xfrm>
            <a:off x="397566" y="1142771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FIRST NORMAL FORM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4D1DA2-5E02-BBA9-12D3-903C6297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47"/>
            <a:ext cx="2298391" cy="92667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957810-42FD-57FF-8372-0C1D195D8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310172"/>
              </p:ext>
            </p:extLst>
          </p:nvPr>
        </p:nvGraphicFramePr>
        <p:xfrm>
          <a:off x="540687" y="2246316"/>
          <a:ext cx="8730535" cy="3589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107">
                  <a:extLst>
                    <a:ext uri="{9D8B030D-6E8A-4147-A177-3AD203B41FA5}">
                      <a16:colId xmlns:a16="http://schemas.microsoft.com/office/drawing/2014/main" val="836241659"/>
                    </a:ext>
                  </a:extLst>
                </a:gridCol>
                <a:gridCol w="1746107">
                  <a:extLst>
                    <a:ext uri="{9D8B030D-6E8A-4147-A177-3AD203B41FA5}">
                      <a16:colId xmlns:a16="http://schemas.microsoft.com/office/drawing/2014/main" val="3080644756"/>
                    </a:ext>
                  </a:extLst>
                </a:gridCol>
                <a:gridCol w="1746107">
                  <a:extLst>
                    <a:ext uri="{9D8B030D-6E8A-4147-A177-3AD203B41FA5}">
                      <a16:colId xmlns:a16="http://schemas.microsoft.com/office/drawing/2014/main" val="2763205059"/>
                    </a:ext>
                  </a:extLst>
                </a:gridCol>
                <a:gridCol w="1746107">
                  <a:extLst>
                    <a:ext uri="{9D8B030D-6E8A-4147-A177-3AD203B41FA5}">
                      <a16:colId xmlns:a16="http://schemas.microsoft.com/office/drawing/2014/main" val="1397854841"/>
                    </a:ext>
                  </a:extLst>
                </a:gridCol>
                <a:gridCol w="1746107">
                  <a:extLst>
                    <a:ext uri="{9D8B030D-6E8A-4147-A177-3AD203B41FA5}">
                      <a16:colId xmlns:a16="http://schemas.microsoft.com/office/drawing/2014/main" val="3995354327"/>
                    </a:ext>
                  </a:extLst>
                </a:gridCol>
              </a:tblGrid>
              <a:tr h="576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RESERVATION_ID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151413"/>
                  </a:ext>
                </a:extLst>
              </a:tr>
              <a:tr h="49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60833"/>
                  </a:ext>
                </a:extLst>
              </a:tr>
              <a:tr h="49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738884"/>
                  </a:ext>
                </a:extLst>
              </a:tr>
              <a:tr h="476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98916"/>
                  </a:ext>
                </a:extLst>
              </a:tr>
              <a:tr h="49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55620"/>
                  </a:ext>
                </a:extLst>
              </a:tr>
              <a:tr h="49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002983"/>
                  </a:ext>
                </a:extLst>
              </a:tr>
              <a:tr h="49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84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329102-E8F7-98EB-8AD7-700465117799}"/>
              </a:ext>
            </a:extLst>
          </p:cNvPr>
          <p:cNvSpPr txBox="1"/>
          <p:nvPr/>
        </p:nvSpPr>
        <p:spPr>
          <a:xfrm>
            <a:off x="604751" y="6123543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(RESERVATION_ID, ROOM_ID)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D68E9-FA3F-E998-475F-D6146E58C664}"/>
              </a:ext>
            </a:extLst>
          </p:cNvPr>
          <p:cNvSpPr txBox="1"/>
          <p:nvPr/>
        </p:nvSpPr>
        <p:spPr>
          <a:xfrm>
            <a:off x="5559017" y="5893243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RESERVATION_ID → CUSTOMER_ID, ROOM_ID CUSTOMER_ID → CUSTOMER_NAME ROOM_ID → ROOM_TYPE</a:t>
            </a:r>
          </a:p>
        </p:txBody>
      </p:sp>
    </p:spTree>
    <p:extLst>
      <p:ext uri="{BB962C8B-B14F-4D97-AF65-F5344CB8AC3E}">
        <p14:creationId xmlns:p14="http://schemas.microsoft.com/office/powerpoint/2010/main" val="857308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7406-F53E-2044-BF04-E97D06EB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B841-9BE6-A5B8-E98E-620FAECAE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66" y="1125423"/>
            <a:ext cx="10515600" cy="5542019"/>
          </a:xfrm>
        </p:spPr>
        <p:txBody>
          <a:bodyPr>
            <a:normAutofit/>
          </a:bodyPr>
          <a:lstStyle/>
          <a:p>
            <a:r>
              <a:rPr lang="en-US" sz="1800" b="1" dirty="0"/>
              <a:t>Redundancy in 1NF</a:t>
            </a:r>
          </a:p>
          <a:p>
            <a:pPr lvl="0"/>
            <a:r>
              <a:rPr lang="en-US" sz="1800" dirty="0"/>
              <a:t>Customer details are repeated for C1 and C2. </a:t>
            </a:r>
          </a:p>
          <a:p>
            <a:pPr lvl="0"/>
            <a:r>
              <a:rPr lang="en-US" sz="1800" dirty="0"/>
              <a:t>Room type is repeated whenever the same room occurs in another reservation. </a:t>
            </a:r>
          </a:p>
          <a:p>
            <a:pPr lvl="0"/>
            <a:r>
              <a:rPr lang="en-US" sz="1800" dirty="0"/>
              <a:t>Repeated data increases storage and inconsistency. </a:t>
            </a:r>
          </a:p>
          <a:p>
            <a:r>
              <a:rPr lang="en-US" sz="1800" b="1" dirty="0"/>
              <a:t>Anomalies in 1NF</a:t>
            </a:r>
          </a:p>
          <a:p>
            <a:r>
              <a:rPr lang="en-US" sz="1800" b="1" dirty="0"/>
              <a:t>Update Anomaly:</a:t>
            </a:r>
            <a:br>
              <a:rPr lang="en-US" sz="1800" dirty="0"/>
            </a:br>
            <a:r>
              <a:rPr lang="en-US" sz="1800" dirty="0"/>
              <a:t>If Ravi's name/details change, all rows containing C1 must be updated.</a:t>
            </a:r>
          </a:p>
          <a:p>
            <a:r>
              <a:rPr lang="en-US" sz="1800" b="1" dirty="0"/>
              <a:t>Insert Anomaly:</a:t>
            </a:r>
            <a:br>
              <a:rPr lang="en-US" sz="1800" dirty="0"/>
            </a:br>
            <a:r>
              <a:rPr lang="en-US" sz="1800" dirty="0"/>
              <a:t>A new customer cannot be stored until a reservation is created.</a:t>
            </a:r>
          </a:p>
          <a:p>
            <a:r>
              <a:rPr lang="en-US" sz="1800" b="1" dirty="0"/>
              <a:t>Delete Anomaly:</a:t>
            </a:r>
            <a:br>
              <a:rPr lang="en-US" sz="1800" dirty="0"/>
            </a:br>
            <a:r>
              <a:rPr lang="en-US" sz="1800" dirty="0"/>
              <a:t>Deleting the last reservation of a customer may also remove that customer's information.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DC260-E261-9D3D-B4C7-5651C95B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47"/>
            <a:ext cx="2298391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81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6DD5-9136-4E35-EFC9-5C651A35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4906-E47E-5420-3E2F-CBFBE199A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222" y="943029"/>
            <a:ext cx="10515600" cy="519537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Second Normal Form</a:t>
            </a:r>
          </a:p>
          <a:p>
            <a:r>
              <a:rPr lang="en-US" sz="2000" b="1" dirty="0"/>
              <a:t>2NF – Decomposition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800" dirty="0"/>
              <a:t>The 1NF table has a composite primary key. Some attributes depend only on part of the composite key. Therefore, partial dependencies are removed by decomposing the table.</a:t>
            </a:r>
          </a:p>
          <a:p>
            <a:r>
              <a:rPr lang="en-US" sz="1800" b="1" dirty="0"/>
              <a:t>CUSTOMER details separated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D3DF86-1006-F649-8C87-F9D49975F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E83079-ED7C-9C19-B936-9690CD19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85880"/>
              </p:ext>
            </p:extLst>
          </p:nvPr>
        </p:nvGraphicFramePr>
        <p:xfrm>
          <a:off x="1005178" y="2920945"/>
          <a:ext cx="4281718" cy="2507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859">
                  <a:extLst>
                    <a:ext uri="{9D8B030D-6E8A-4147-A177-3AD203B41FA5}">
                      <a16:colId xmlns:a16="http://schemas.microsoft.com/office/drawing/2014/main" val="3190736946"/>
                    </a:ext>
                  </a:extLst>
                </a:gridCol>
                <a:gridCol w="2140859">
                  <a:extLst>
                    <a:ext uri="{9D8B030D-6E8A-4147-A177-3AD203B41FA5}">
                      <a16:colId xmlns:a16="http://schemas.microsoft.com/office/drawing/2014/main" val="2219715734"/>
                    </a:ext>
                  </a:extLst>
                </a:gridCol>
              </a:tblGrid>
              <a:tr h="50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299988"/>
                  </a:ext>
                </a:extLst>
              </a:tr>
              <a:tr h="50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314008"/>
                  </a:ext>
                </a:extLst>
              </a:tr>
              <a:tr h="50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840322"/>
                  </a:ext>
                </a:extLst>
              </a:tr>
              <a:tr h="50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Arjun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409991"/>
                  </a:ext>
                </a:extLst>
              </a:tr>
              <a:tr h="50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Priya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8605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6BA6675-584B-696F-22D1-F1DA76598CF9}"/>
              </a:ext>
            </a:extLst>
          </p:cNvPr>
          <p:cNvSpPr txBox="1"/>
          <p:nvPr/>
        </p:nvSpPr>
        <p:spPr>
          <a:xfrm>
            <a:off x="1005178" y="563678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CUSTOMER_ID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EE1BF-7790-4344-60AE-1859134F77F1}"/>
              </a:ext>
            </a:extLst>
          </p:cNvPr>
          <p:cNvSpPr txBox="1"/>
          <p:nvPr/>
        </p:nvSpPr>
        <p:spPr>
          <a:xfrm>
            <a:off x="5902036" y="2421374"/>
            <a:ext cx="5843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Reservation table after removing CUSTOMER_NAME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EC3F476-C410-FAF5-DB5B-75DA3335A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61113"/>
              </p:ext>
            </p:extLst>
          </p:nvPr>
        </p:nvGraphicFramePr>
        <p:xfrm>
          <a:off x="6436820" y="2782393"/>
          <a:ext cx="5083956" cy="3304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989">
                  <a:extLst>
                    <a:ext uri="{9D8B030D-6E8A-4147-A177-3AD203B41FA5}">
                      <a16:colId xmlns:a16="http://schemas.microsoft.com/office/drawing/2014/main" val="2276797852"/>
                    </a:ext>
                  </a:extLst>
                </a:gridCol>
                <a:gridCol w="1270989">
                  <a:extLst>
                    <a:ext uri="{9D8B030D-6E8A-4147-A177-3AD203B41FA5}">
                      <a16:colId xmlns:a16="http://schemas.microsoft.com/office/drawing/2014/main" val="3658076096"/>
                    </a:ext>
                  </a:extLst>
                </a:gridCol>
                <a:gridCol w="1270989">
                  <a:extLst>
                    <a:ext uri="{9D8B030D-6E8A-4147-A177-3AD203B41FA5}">
                      <a16:colId xmlns:a16="http://schemas.microsoft.com/office/drawing/2014/main" val="649831237"/>
                    </a:ext>
                  </a:extLst>
                </a:gridCol>
                <a:gridCol w="1270989">
                  <a:extLst>
                    <a:ext uri="{9D8B030D-6E8A-4147-A177-3AD203B41FA5}">
                      <a16:colId xmlns:a16="http://schemas.microsoft.com/office/drawing/2014/main" val="2340497128"/>
                    </a:ext>
                  </a:extLst>
                </a:gridCol>
              </a:tblGrid>
              <a:tr h="767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RESERVATION_ID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805936"/>
                  </a:ext>
                </a:extLst>
              </a:tr>
              <a:tr h="328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736731"/>
                  </a:ext>
                </a:extLst>
              </a:tr>
              <a:tr h="537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84338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532435"/>
                  </a:ext>
                </a:extLst>
              </a:tr>
              <a:tr h="537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090873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595785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0213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BE732A1-F4F6-874C-4145-D8DED9C72702}"/>
              </a:ext>
            </a:extLst>
          </p:cNvPr>
          <p:cNvSpPr txBox="1"/>
          <p:nvPr/>
        </p:nvSpPr>
        <p:spPr>
          <a:xfrm>
            <a:off x="6094616" y="6159675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CUSTOMER_NAME is deleted from the reservation table because it depends on </a:t>
            </a:r>
            <a:r>
              <a:rPr lang="en-US" sz="1600" dirty="0">
                <a:latin typeface="+mn-lt"/>
              </a:rPr>
              <a:t>CUSTOMER_ID</a:t>
            </a:r>
            <a:r>
              <a:rPr lang="en-US" sz="1600" dirty="0"/>
              <a:t>, not on the complete composite key.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34474-DF3A-E20D-2C4B-8C5AB10A4376}"/>
              </a:ext>
            </a:extLst>
          </p:cNvPr>
          <p:cNvSpPr txBox="1"/>
          <p:nvPr/>
        </p:nvSpPr>
        <p:spPr>
          <a:xfrm>
            <a:off x="1005178" y="6124613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CUSTOMER_ID → CUSTOMER_NAME ROOM_ID → ROOM_TYPE</a:t>
            </a:r>
          </a:p>
        </p:txBody>
      </p:sp>
    </p:spTree>
    <p:extLst>
      <p:ext uri="{BB962C8B-B14F-4D97-AF65-F5344CB8AC3E}">
        <p14:creationId xmlns:p14="http://schemas.microsoft.com/office/powerpoint/2010/main" val="364064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1A2E-B98B-C5AD-5A7D-9E3E8167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9AD6-A293-0ABA-995A-550454DF5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95893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1FCF3-258B-393B-94BB-FDE1B8CF7B60}"/>
              </a:ext>
            </a:extLst>
          </p:cNvPr>
          <p:cNvSpPr txBox="1"/>
          <p:nvPr/>
        </p:nvSpPr>
        <p:spPr>
          <a:xfrm>
            <a:off x="1021080" y="1213658"/>
            <a:ext cx="66952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Redundancy after 2NF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Customer names are stored only once.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Repetition of customer information is reduced.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Room information is still repeated where the same room occurs. </a:t>
            </a:r>
          </a:p>
          <a:p>
            <a:pPr>
              <a:buNone/>
            </a:pPr>
            <a:r>
              <a:rPr lang="en-US" b="1" dirty="0"/>
              <a:t>Anomalies after 2NF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Update anomaly:</a:t>
            </a:r>
            <a:r>
              <a:rPr lang="en-US" dirty="0"/>
              <a:t> Customer name needs to be updated only once.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Insert anomaly:</a:t>
            </a:r>
            <a:r>
              <a:rPr lang="en-US" dirty="0"/>
              <a:t> A customer can be added independently.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Delete anomaly:</a:t>
            </a:r>
            <a:r>
              <a:rPr lang="en-US" dirty="0"/>
              <a:t> Deleting a reservation does not delete customer information.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1D341-BEFD-346C-95E2-0D8154228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07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BF5D-BE08-7633-6AE5-497D7CA0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FE27-1CE9-6CFB-2FB3-A98FB2524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1" y="839663"/>
            <a:ext cx="10515600" cy="532259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Third Normal Form</a:t>
            </a:r>
          </a:p>
          <a:p>
            <a:r>
              <a:rPr lang="en-US" sz="1800" dirty="0"/>
              <a:t>2NF → 3NF Decomposition</a:t>
            </a:r>
          </a:p>
          <a:p>
            <a:r>
              <a:rPr lang="en-US" sz="1800" dirty="0"/>
              <a:t>The 2NF table still contains a transitive dependency because </a:t>
            </a:r>
            <a:r>
              <a:rPr lang="en-US" sz="1600" dirty="0"/>
              <a:t>ROOM_ID → ROOM_TYPE. </a:t>
            </a:r>
            <a:r>
              <a:rPr lang="en-US" sz="1800" dirty="0"/>
              <a:t>Therefore, room details are separated into a new ROOM table.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3BB37-80B0-B4F3-D08E-D0F753F1B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8287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58FB71-A151-8EF9-994C-B7E792C5C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788909"/>
              </p:ext>
            </p:extLst>
          </p:nvPr>
        </p:nvGraphicFramePr>
        <p:xfrm>
          <a:off x="920864" y="2893538"/>
          <a:ext cx="41499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50">
                  <a:extLst>
                    <a:ext uri="{9D8B030D-6E8A-4147-A177-3AD203B41FA5}">
                      <a16:colId xmlns:a16="http://schemas.microsoft.com/office/drawing/2014/main" val="2674974039"/>
                    </a:ext>
                  </a:extLst>
                </a:gridCol>
                <a:gridCol w="2074950">
                  <a:extLst>
                    <a:ext uri="{9D8B030D-6E8A-4147-A177-3AD203B41FA5}">
                      <a16:colId xmlns:a16="http://schemas.microsoft.com/office/drawing/2014/main" val="1089525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41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457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43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6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9771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F21EBD-C9CA-441F-2EFB-F0B562639085}"/>
              </a:ext>
            </a:extLst>
          </p:cNvPr>
          <p:cNvSpPr txBox="1"/>
          <p:nvPr/>
        </p:nvSpPr>
        <p:spPr>
          <a:xfrm>
            <a:off x="838200" y="2471603"/>
            <a:ext cx="6097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ROOM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7F32EB-CA9C-1FBB-D3F0-8E62F028F085}"/>
              </a:ext>
            </a:extLst>
          </p:cNvPr>
          <p:cNvSpPr txBox="1"/>
          <p:nvPr/>
        </p:nvSpPr>
        <p:spPr>
          <a:xfrm>
            <a:off x="838200" y="490100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ROOM_ID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332E1ED-52BF-1D9B-0D80-9994E9E2F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96129"/>
              </p:ext>
            </p:extLst>
          </p:nvPr>
        </p:nvGraphicFramePr>
        <p:xfrm>
          <a:off x="6034397" y="2879224"/>
          <a:ext cx="496334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447">
                  <a:extLst>
                    <a:ext uri="{9D8B030D-6E8A-4147-A177-3AD203B41FA5}">
                      <a16:colId xmlns:a16="http://schemas.microsoft.com/office/drawing/2014/main" val="4145631729"/>
                    </a:ext>
                  </a:extLst>
                </a:gridCol>
                <a:gridCol w="1654447">
                  <a:extLst>
                    <a:ext uri="{9D8B030D-6E8A-4147-A177-3AD203B41FA5}">
                      <a16:colId xmlns:a16="http://schemas.microsoft.com/office/drawing/2014/main" val="3800331143"/>
                    </a:ext>
                  </a:extLst>
                </a:gridCol>
                <a:gridCol w="1654447">
                  <a:extLst>
                    <a:ext uri="{9D8B030D-6E8A-4147-A177-3AD203B41FA5}">
                      <a16:colId xmlns:a16="http://schemas.microsoft.com/office/drawing/2014/main" val="145516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RESERVATION_ID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175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19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12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33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807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6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85771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E109BF4-8CC3-F376-016B-87EFB9310EC5}"/>
              </a:ext>
            </a:extLst>
          </p:cNvPr>
          <p:cNvSpPr txBox="1"/>
          <p:nvPr/>
        </p:nvSpPr>
        <p:spPr>
          <a:xfrm>
            <a:off x="6034397" y="233479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 RESERVATION table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29816-FEB2-B310-E120-449EC0CA10BC}"/>
              </a:ext>
            </a:extLst>
          </p:cNvPr>
          <p:cNvSpPr txBox="1"/>
          <p:nvPr/>
        </p:nvSpPr>
        <p:spPr>
          <a:xfrm>
            <a:off x="6096000" y="592973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RESERVATION_ID, ROOM_ID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48046-2EE8-35A2-29CA-5AACD2B68409}"/>
              </a:ext>
            </a:extLst>
          </p:cNvPr>
          <p:cNvSpPr txBox="1"/>
          <p:nvPr/>
        </p:nvSpPr>
        <p:spPr>
          <a:xfrm>
            <a:off x="920864" y="5359311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CUSTOMER_ID → CUSTOMER_NAME ROOM_ID → ROOM_TYPE (RESERVATION_ID, ROOM_ID) → CUSTOMER_ID</a:t>
            </a:r>
          </a:p>
        </p:txBody>
      </p:sp>
    </p:spTree>
    <p:extLst>
      <p:ext uri="{BB962C8B-B14F-4D97-AF65-F5344CB8AC3E}">
        <p14:creationId xmlns:p14="http://schemas.microsoft.com/office/powerpoint/2010/main" val="1989765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34F8-C60B-9B98-4343-7D950FB8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C98D6-A8D2-7A3A-FC14-35FF5606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08" y="1027906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b="1" dirty="0"/>
              <a:t>Redundancy after 3NF</a:t>
            </a:r>
          </a:p>
          <a:p>
            <a:pPr lvl="0"/>
            <a:r>
              <a:rPr lang="en-US" sz="2000" dirty="0"/>
              <a:t>Customer information is stored only in CUSTOMER. </a:t>
            </a:r>
          </a:p>
          <a:p>
            <a:pPr lvl="0"/>
            <a:r>
              <a:rPr lang="en-US" sz="2000" dirty="0"/>
              <a:t>Room information is stored only in ROOM. </a:t>
            </a:r>
          </a:p>
          <a:p>
            <a:pPr lvl="0"/>
            <a:r>
              <a:rPr lang="en-US" sz="2000" dirty="0"/>
              <a:t>Repeated customer and room details are eliminated. </a:t>
            </a:r>
          </a:p>
          <a:p>
            <a:pPr lvl="0"/>
            <a:r>
              <a:rPr lang="en-US" sz="2000" dirty="0"/>
              <a:t>Data duplication is minimized. </a:t>
            </a:r>
          </a:p>
          <a:p>
            <a:r>
              <a:rPr lang="en-US" sz="2000" b="1" dirty="0"/>
              <a:t>Anomalies after 3NF</a:t>
            </a:r>
          </a:p>
          <a:p>
            <a:r>
              <a:rPr lang="en-US" sz="2000" b="1" dirty="0"/>
              <a:t>Update Anomaly:</a:t>
            </a:r>
            <a:br>
              <a:rPr lang="en-US" sz="2000" dirty="0"/>
            </a:br>
            <a:r>
              <a:rPr lang="en-US" sz="2000" dirty="0"/>
              <a:t>Customer or room details are updated in only one place.</a:t>
            </a:r>
          </a:p>
          <a:p>
            <a:r>
              <a:rPr lang="en-US" sz="2000" b="1" dirty="0"/>
              <a:t>Insert Anomaly:</a:t>
            </a:r>
            <a:br>
              <a:rPr lang="en-US" sz="2000" dirty="0"/>
            </a:br>
            <a:r>
              <a:rPr lang="en-US" sz="2000" dirty="0"/>
              <a:t>New customers and rooms can be added without creating a reservation.</a:t>
            </a:r>
          </a:p>
          <a:p>
            <a:r>
              <a:rPr lang="en-US" sz="2000" b="1" dirty="0"/>
              <a:t>Delete Anomaly:</a:t>
            </a:r>
            <a:br>
              <a:rPr lang="en-US" sz="2000" dirty="0"/>
            </a:br>
            <a:r>
              <a:rPr lang="en-US" sz="2000" dirty="0"/>
              <a:t>Deleting a reservation does not remove customer or room information.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D37C7-6A42-CC4E-1AB2-ED0A558A4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82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00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37440-754B-ABA4-7DAE-3A982A38C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9" y="228322"/>
            <a:ext cx="11331922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1745</Words>
  <Application>Microsoft Office PowerPoint</Application>
  <PresentationFormat>Widescreen</PresentationFormat>
  <Paragraphs>367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Times New Roman</vt:lpstr>
      <vt:lpstr>Office Theme</vt:lpstr>
      <vt:lpstr>Hotel Reservation Management System</vt:lpstr>
      <vt:lpstr>Introduction</vt:lpstr>
      <vt:lpstr>                         Problem Statement</vt:lpstr>
      <vt:lpstr>Objectives</vt:lpstr>
      <vt:lpstr>Functional Requirements</vt:lpstr>
      <vt:lpstr>Non-Functional Requirements</vt:lpstr>
      <vt:lpstr>End Users Of The System</vt:lpstr>
      <vt:lpstr>Attributes And Entities</vt:lpstr>
      <vt:lpstr>PowerPoint Presentation</vt:lpstr>
      <vt:lpstr>PowerPoint Presentation</vt:lpstr>
      <vt:lpstr>PowerPoint Presentation</vt:lpstr>
      <vt:lpstr>              SQL Creation</vt:lpstr>
      <vt:lpstr>PowerPoint Presentation</vt:lpstr>
      <vt:lpstr>PowerPoint Presentation</vt:lpstr>
      <vt:lpstr>PowerPoint Presentation</vt:lpstr>
      <vt:lpstr>PowerPoint Presentation</vt:lpstr>
      <vt:lpstr>Sample Records</vt:lpstr>
      <vt:lpstr>.</vt:lpstr>
      <vt:lpstr>.</vt:lpstr>
      <vt:lpstr>Basic Queries and Outputs</vt:lpstr>
      <vt:lpstr>.</vt:lpstr>
      <vt:lpstr>.</vt:lpstr>
      <vt:lpstr>.</vt:lpstr>
      <vt:lpstr>.</vt:lpstr>
      <vt:lpstr>.</vt:lpstr>
      <vt:lpstr>.</vt:lpstr>
      <vt:lpstr>Normalisation</vt:lpstr>
      <vt:lpstr>.</vt:lpstr>
      <vt:lpstr>.</vt:lpstr>
      <vt:lpstr>.</vt:lpstr>
      <vt:lpstr>.</vt:lpstr>
      <vt:lpstr>.</vt:lpstr>
      <vt:lpstr>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25B11CS804</dc:creator>
  <cp:lastModifiedBy>25B11CS804</cp:lastModifiedBy>
  <cp:revision>23</cp:revision>
  <dcterms:created xsi:type="dcterms:W3CDTF">2026-08-11T11:51:14Z</dcterms:created>
  <dcterms:modified xsi:type="dcterms:W3CDTF">2026-10-05T13:16:09Z</dcterms:modified>
</cp:coreProperties>
</file>